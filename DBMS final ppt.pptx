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9.jpg" ContentType="image/jpeg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85" r:id="rId5"/>
    <p:sldId id="284" r:id="rId6"/>
    <p:sldId id="288" r:id="rId7"/>
    <p:sldId id="287" r:id="rId8"/>
    <p:sldId id="300" r:id="rId9"/>
    <p:sldId id="292" r:id="rId10"/>
    <p:sldId id="293" r:id="rId11"/>
    <p:sldId id="301" r:id="rId12"/>
    <p:sldId id="294" r:id="rId13"/>
    <p:sldId id="295" r:id="rId14"/>
    <p:sldId id="296" r:id="rId15"/>
    <p:sldId id="299" r:id="rId16"/>
    <p:sldId id="297" r:id="rId17"/>
    <p:sldId id="269" r:id="rId1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69C24A-1F65-4140-B64F-DAF31CA90097}" v="19" dt="2026-07-20T06:26:16.30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/>
  </p:normalViewPr>
  <p:slideViewPr>
    <p:cSldViewPr>
      <p:cViewPr>
        <p:scale>
          <a:sx n="100" d="100"/>
          <a:sy n="100" d="100"/>
        </p:scale>
        <p:origin x="950" y="-2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s://github.com/Sriramana-12/Library-Management-System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5624" y="1197215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(Review I &amp; II)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39767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Library Management System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. Sri Ramana(25B11AI704)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. Chandru(25B11AI465)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. Suhas (25B11AI384)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. Datta Sri Sai(25B11AI049)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 Machine Learning</a:t>
            </a:r>
            <a:endParaRPr lang="en-IN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title, objectives &amp; problem statement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&amp; attributes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ER diagram &amp; relationships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relational database schema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Primary &amp; Foreign Keys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GitHub repo &amp; responsibilities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1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 startAt="9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sample data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&amp; SQL queries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 database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3000" y="20782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69414"/>
            <a:ext cx="2643857" cy="754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/Contents</a:t>
            </a:r>
          </a:p>
          <a:p>
            <a:pPr marL="12700" algn="ctr">
              <a:spcBef>
                <a:spcPts val="130"/>
              </a:spcBef>
            </a:pPr>
            <a:endParaRPr lang="en-IN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4191000" y="298198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bstract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8826DA-C0C7-3280-A179-8C72B3DEAD4E}"/>
              </a:ext>
            </a:extLst>
          </p:cNvPr>
          <p:cNvSpPr txBox="1"/>
          <p:nvPr/>
        </p:nvSpPr>
        <p:spPr>
          <a:xfrm>
            <a:off x="609600" y="1066800"/>
            <a:ext cx="9144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Library Management System is a database application that helps libraries manage books, members, and borrowing/returning activities efficiently.</a:t>
            </a:r>
          </a:p>
          <a:p>
            <a:pPr algn="just"/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designs and implements a relational database using SQL that supports:</a:t>
            </a:r>
          </a:p>
          <a:p>
            <a:pPr algn="just"/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inventory management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registration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 and return of books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of due dates and availability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through primary keys, foreign keys, and constraints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590800" y="114583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2826543" y="305788"/>
            <a:ext cx="5029200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Problem Statement</a:t>
            </a:r>
          </a:p>
          <a:p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457200" y="990659"/>
            <a:ext cx="7632879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Objectives:</a:t>
            </a:r>
          </a:p>
          <a:p>
            <a:endParaRPr lang="en-IN" dirty="0">
              <a:solidFill>
                <a:srgbClr val="FF0000"/>
              </a:solidFill>
              <a:effectLst/>
              <a:highlight>
                <a:srgbClr val="FFFF00"/>
              </a:highlight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Identify entities and attributes for a library system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Design an Entity-Relationship (ER) diagram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Convert the ER diagram into a relational schema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Implement the database with proper constraints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Perform CRUD operations and complex queries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Ensure data integrity and validation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Problem Statement:</a:t>
            </a:r>
          </a:p>
          <a:p>
            <a:endParaRPr lang="en-IN" b="1" dirty="0"/>
          </a:p>
          <a:p>
            <a:br>
              <a:rPr lang="en-IN" dirty="0">
                <a:effectLst/>
              </a:rPr>
            </a:br>
            <a:r>
              <a:rPr lang="en-IN" dirty="0">
                <a:effectLst/>
              </a:rPr>
              <a:t>Traditional library systems rely on manual record-keeping, which is time-consuming, error-prone, and difficult to scale. There is a need for a computerized system that can efficiently manage books, members, and transactions while maintaining data accuracy and integrity.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7A3C-9BEC-C61B-FC8D-3B949CD8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5F0E8CC-BDB8-7C3E-7C5E-012FD1252950}"/>
              </a:ext>
            </a:extLst>
          </p:cNvPr>
          <p:cNvSpPr txBox="1"/>
          <p:nvPr/>
        </p:nvSpPr>
        <p:spPr>
          <a:xfrm>
            <a:off x="4412373" y="369585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BC28A04-FC65-6F36-8766-2B93E376E2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6F9D794-31EA-8ABA-A5E3-D49E7DEF13C2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0767A3E-73A4-9967-916C-59851FE931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5C64E3F9-2AFD-ACC7-6183-250AF43BDF5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01E94C25-6779-8458-E95E-F4782347F2B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4973351-D6E2-D3B8-C7AF-9344AB18D3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DE1838-629A-37A8-DB28-E5CABD39B264}"/>
              </a:ext>
            </a:extLst>
          </p:cNvPr>
          <p:cNvSpPr txBox="1"/>
          <p:nvPr/>
        </p:nvSpPr>
        <p:spPr>
          <a:xfrm>
            <a:off x="3428850" y="320342"/>
            <a:ext cx="5029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&amp; Attributes</a:t>
            </a:r>
          </a:p>
          <a:p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0F592E-1BC5-A7E5-94A9-5EBA752B1D71}"/>
              </a:ext>
            </a:extLst>
          </p:cNvPr>
          <p:cNvSpPr txBox="1"/>
          <p:nvPr/>
        </p:nvSpPr>
        <p:spPr>
          <a:xfrm>
            <a:off x="1676884" y="2286000"/>
            <a:ext cx="69269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A48820D-5A1A-5C26-1C02-307768A06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611047"/>
              </p:ext>
            </p:extLst>
          </p:nvPr>
        </p:nvGraphicFramePr>
        <p:xfrm>
          <a:off x="533400" y="1255511"/>
          <a:ext cx="9220200" cy="44594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73400">
                  <a:extLst>
                    <a:ext uri="{9D8B030D-6E8A-4147-A177-3AD203B41FA5}">
                      <a16:colId xmlns:a16="http://schemas.microsoft.com/office/drawing/2014/main" val="4034537870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62701372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584067643"/>
                    </a:ext>
                  </a:extLst>
                </a:gridCol>
              </a:tblGrid>
              <a:tr h="424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Entity</a:t>
                      </a:r>
                    </a:p>
                  </a:txBody>
                  <a:tcPr marL="78430" marR="78430" marT="39215" marB="39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Attributes</a:t>
                      </a:r>
                    </a:p>
                  </a:txBody>
                  <a:tcPr marL="78430" marR="78430" marT="39215" marB="39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Key</a:t>
                      </a:r>
                    </a:p>
                  </a:txBody>
                  <a:tcPr marL="78430" marR="78430" marT="39215" marB="39215" anchor="ctr"/>
                </a:tc>
                <a:extLst>
                  <a:ext uri="{0D108BD9-81ED-4DB2-BD59-A6C34878D82A}">
                    <a16:rowId xmlns:a16="http://schemas.microsoft.com/office/drawing/2014/main" val="4286486336"/>
                  </a:ext>
                </a:extLst>
              </a:tr>
              <a:tr h="1061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Book</a:t>
                      </a:r>
                    </a:p>
                  </a:txBody>
                  <a:tcPr marL="78430" marR="78430" marT="39215" marB="39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Book_ID, Title, Author, ISBN, Publisher, Category, Price, Status, Available_Copies</a:t>
                      </a:r>
                    </a:p>
                  </a:txBody>
                  <a:tcPr marL="78430" marR="78430" marT="39215" marB="39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Book_ID / ISBN</a:t>
                      </a:r>
                    </a:p>
                  </a:txBody>
                  <a:tcPr marL="78430" marR="78430" marT="39215" marB="39215" anchor="ctr"/>
                </a:tc>
                <a:extLst>
                  <a:ext uri="{0D108BD9-81ED-4DB2-BD59-A6C34878D82A}">
                    <a16:rowId xmlns:a16="http://schemas.microsoft.com/office/drawing/2014/main" val="4144599362"/>
                  </a:ext>
                </a:extLst>
              </a:tr>
              <a:tr h="743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Member</a:t>
                      </a:r>
                    </a:p>
                  </a:txBody>
                  <a:tcPr marL="78430" marR="78430" marT="39215" marB="39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Member_ID, Name, Email, Phone, Address, Reg_Date</a:t>
                      </a:r>
                    </a:p>
                  </a:txBody>
                  <a:tcPr marL="78430" marR="78430" marT="39215" marB="39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Member_ID</a:t>
                      </a:r>
                    </a:p>
                  </a:txBody>
                  <a:tcPr marL="78430" marR="78430" marT="39215" marB="39215" anchor="ctr"/>
                </a:tc>
                <a:extLst>
                  <a:ext uri="{0D108BD9-81ED-4DB2-BD59-A6C34878D82A}">
                    <a16:rowId xmlns:a16="http://schemas.microsoft.com/office/drawing/2014/main" val="1002017679"/>
                  </a:ext>
                </a:extLst>
              </a:tr>
              <a:tr h="743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</a:rPr>
                        <a:t>Librarian</a:t>
                      </a:r>
                    </a:p>
                  </a:txBody>
                  <a:tcPr marL="78430" marR="78430" marT="39215" marB="39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 err="1">
                          <a:effectLst/>
                        </a:rPr>
                        <a:t>Librarian_ID</a:t>
                      </a:r>
                      <a:r>
                        <a:rPr lang="en-IN" sz="1500" dirty="0">
                          <a:effectLst/>
                        </a:rPr>
                        <a:t>, Name, Email, Phone</a:t>
                      </a:r>
                    </a:p>
                  </a:txBody>
                  <a:tcPr marL="78430" marR="78430" marT="39215" marB="39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Librarian_ID</a:t>
                      </a:r>
                    </a:p>
                  </a:txBody>
                  <a:tcPr marL="78430" marR="78430" marT="39215" marB="39215" anchor="ctr"/>
                </a:tc>
                <a:extLst>
                  <a:ext uri="{0D108BD9-81ED-4DB2-BD59-A6C34878D82A}">
                    <a16:rowId xmlns:a16="http://schemas.microsoft.com/office/drawing/2014/main" val="1095724933"/>
                  </a:ext>
                </a:extLst>
              </a:tr>
              <a:tr h="1061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Loan</a:t>
                      </a:r>
                    </a:p>
                  </a:txBody>
                  <a:tcPr marL="78430" marR="78430" marT="39215" marB="39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Loan_ID, Book_ID, Member_ID, Issue_Date, Due_Date, Return_Date</a:t>
                      </a:r>
                    </a:p>
                  </a:txBody>
                  <a:tcPr marL="78430" marR="78430" marT="39215" marB="39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Loan_ID</a:t>
                      </a:r>
                    </a:p>
                  </a:txBody>
                  <a:tcPr marL="78430" marR="78430" marT="39215" marB="39215" anchor="ctr"/>
                </a:tc>
                <a:extLst>
                  <a:ext uri="{0D108BD9-81ED-4DB2-BD59-A6C34878D82A}">
                    <a16:rowId xmlns:a16="http://schemas.microsoft.com/office/drawing/2014/main" val="1796818692"/>
                  </a:ext>
                </a:extLst>
              </a:tr>
              <a:tr h="424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Publisher</a:t>
                      </a:r>
                    </a:p>
                  </a:txBody>
                  <a:tcPr marL="78430" marR="78430" marT="39215" marB="39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Publisher_ID, Name, Address</a:t>
                      </a:r>
                    </a:p>
                  </a:txBody>
                  <a:tcPr marL="78430" marR="78430" marT="39215" marB="39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 err="1">
                          <a:effectLst/>
                        </a:rPr>
                        <a:t>Publisher_ID</a:t>
                      </a:r>
                      <a:endParaRPr lang="en-IN" sz="1500" dirty="0">
                        <a:effectLst/>
                      </a:endParaRPr>
                    </a:p>
                  </a:txBody>
                  <a:tcPr marL="78430" marR="78430" marT="39215" marB="39215" anchor="ctr"/>
                </a:tc>
                <a:extLst>
                  <a:ext uri="{0D108BD9-81ED-4DB2-BD59-A6C34878D82A}">
                    <a16:rowId xmlns:a16="http://schemas.microsoft.com/office/drawing/2014/main" val="2291394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9973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F62A-28CD-1AF0-FCC9-9795D991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882BD3-FCF2-C56E-AAE2-C4D14D585E66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3CC86148-DFF8-3451-7947-2685EE95BD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A4DF9EE2-487D-D75F-149C-A5A989F91BE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1618242D-8DDA-301B-EF8C-793435D7B3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669F432-648C-72A6-EE1E-52C40A5BB68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D43B590-5504-6B74-CBB0-60480CB4BBC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2876794-728A-676B-5B3B-0E4A8320CD7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FAEAFE-5DA8-E3CC-E08A-02ABAA5C5423}"/>
              </a:ext>
            </a:extLst>
          </p:cNvPr>
          <p:cNvSpPr txBox="1"/>
          <p:nvPr/>
        </p:nvSpPr>
        <p:spPr>
          <a:xfrm>
            <a:off x="4251334" y="316495"/>
            <a:ext cx="5029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 Diagram </a:t>
            </a:r>
          </a:p>
          <a:p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3A7109-189E-49AE-4CA7-A2928A9564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50" y="839060"/>
            <a:ext cx="8883137" cy="57622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E5B649-DBCE-08B3-3BC3-15B23EE862FC}"/>
              </a:ext>
            </a:extLst>
          </p:cNvPr>
          <p:cNvSpPr txBox="1"/>
          <p:nvPr/>
        </p:nvSpPr>
        <p:spPr>
          <a:xfrm>
            <a:off x="297573" y="6605265"/>
            <a:ext cx="9144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One </a:t>
            </a:r>
            <a:r>
              <a:rPr lang="en-IN" b="1" dirty="0"/>
              <a:t>Publisher</a:t>
            </a:r>
            <a:r>
              <a:rPr lang="en-IN" dirty="0"/>
              <a:t> publishes many </a:t>
            </a:r>
            <a:r>
              <a:rPr lang="en-IN" b="1" dirty="0"/>
              <a:t>Books</a:t>
            </a:r>
            <a:r>
              <a:rPr lang="en-IN" dirty="0"/>
              <a:t> (1 : N)</a:t>
            </a:r>
          </a:p>
          <a:p>
            <a:pPr lvl="0"/>
            <a:r>
              <a:rPr lang="en-IN" dirty="0"/>
              <a:t>One </a:t>
            </a:r>
            <a:r>
              <a:rPr lang="en-IN" b="1" dirty="0"/>
              <a:t>Member</a:t>
            </a:r>
            <a:r>
              <a:rPr lang="en-IN" dirty="0"/>
              <a:t> can borrow many </a:t>
            </a:r>
            <a:r>
              <a:rPr lang="en-IN" b="1" dirty="0"/>
              <a:t>Books</a:t>
            </a:r>
            <a:r>
              <a:rPr lang="en-IN" dirty="0"/>
              <a:t> (1 : N)</a:t>
            </a:r>
          </a:p>
          <a:p>
            <a:pPr lvl="0"/>
            <a:r>
              <a:rPr lang="en-IN" dirty="0"/>
              <a:t>One </a:t>
            </a:r>
            <a:r>
              <a:rPr lang="en-IN" b="1" dirty="0"/>
              <a:t>Book</a:t>
            </a:r>
            <a:r>
              <a:rPr lang="en-IN" dirty="0"/>
              <a:t> can be borrowed by many </a:t>
            </a:r>
            <a:r>
              <a:rPr lang="en-IN" b="1" dirty="0"/>
              <a:t>Members</a:t>
            </a:r>
            <a:r>
              <a:rPr lang="en-IN" dirty="0"/>
              <a:t> over time (through Loan)</a:t>
            </a:r>
          </a:p>
          <a:p>
            <a:pPr lvl="0"/>
            <a:r>
              <a:rPr lang="en-IN" dirty="0"/>
              <a:t>One </a:t>
            </a:r>
            <a:r>
              <a:rPr lang="en-IN" b="1" dirty="0"/>
              <a:t>Librarian</a:t>
            </a:r>
            <a:r>
              <a:rPr lang="en-IN" dirty="0"/>
              <a:t> issues many </a:t>
            </a:r>
            <a:r>
              <a:rPr lang="en-IN" b="1" dirty="0"/>
              <a:t>Loans</a:t>
            </a:r>
            <a:r>
              <a:rPr lang="en-IN" dirty="0"/>
              <a:t> (1 : 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317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1103-BED3-D0D1-2B32-DF462A49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86A48A0-7630-F33A-9602-55A8C30FABC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4D87CA1E-4756-F08E-63BD-75124D6360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631FFF4E-3585-C131-4111-19552BFBD0ED}"/>
              </a:ext>
            </a:extLst>
          </p:cNvPr>
          <p:cNvGrpSpPr/>
          <p:nvPr/>
        </p:nvGrpSpPr>
        <p:grpSpPr>
          <a:xfrm>
            <a:off x="2667000" y="89663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23462C3B-779A-ECC8-E6A0-EBE10897D9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1C485986-3706-6533-B03D-5A8A8566ED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C06018CA-58C0-7E2C-3046-85D5E75FDF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8EE4812-0FE8-8F6E-37C0-C1D8649E38B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996B418-1692-861F-B2FC-D97A6A0DCECA}"/>
              </a:ext>
            </a:extLst>
          </p:cNvPr>
          <p:cNvSpPr txBox="1"/>
          <p:nvPr/>
        </p:nvSpPr>
        <p:spPr>
          <a:xfrm>
            <a:off x="3429000" y="303730"/>
            <a:ext cx="5029200" cy="70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 Schema</a:t>
            </a:r>
          </a:p>
          <a:p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E2F94-6AD4-B724-E3FB-997227B0055D}"/>
              </a:ext>
            </a:extLst>
          </p:cNvPr>
          <p:cNvSpPr txBox="1"/>
          <p:nvPr/>
        </p:nvSpPr>
        <p:spPr>
          <a:xfrm>
            <a:off x="290750" y="1178698"/>
            <a:ext cx="931045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Title, Author, ISBN,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Publisher_ID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Category, Price, Status,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Available_Copies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Email, Phone, Address,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Reg_Date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Librarian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Librarian_ID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Email, Phone)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Librarian_ID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Issue_Date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Due_Date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Return_Date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Publisher_ID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Address)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185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352800" y="320752"/>
            <a:ext cx="5029200" cy="70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&amp; Foreign Keys</a:t>
            </a:r>
          </a:p>
          <a:p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457200" y="1034799"/>
            <a:ext cx="67818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Primary Keys:</a:t>
            </a:r>
          </a:p>
          <a:p>
            <a:pPr algn="l"/>
            <a:endParaRPr lang="en-IN" sz="2400" dirty="0">
              <a:effectLst/>
            </a:endParaRPr>
          </a:p>
          <a:p>
            <a:pPr lvl="0" algn="l"/>
            <a:r>
              <a:rPr lang="en-IN" sz="2400" dirty="0"/>
              <a:t>Book → </a:t>
            </a:r>
            <a:r>
              <a:rPr lang="en-IN" sz="2400" dirty="0" err="1"/>
              <a:t>Book_ID</a:t>
            </a:r>
            <a:endParaRPr lang="en-IN" sz="2400" dirty="0"/>
          </a:p>
          <a:p>
            <a:pPr lvl="0" algn="l"/>
            <a:r>
              <a:rPr lang="en-IN" sz="2400" dirty="0"/>
              <a:t>Member → </a:t>
            </a:r>
            <a:r>
              <a:rPr lang="en-IN" sz="2400" dirty="0" err="1"/>
              <a:t>Member_ID</a:t>
            </a:r>
            <a:endParaRPr lang="en-IN" sz="2400" dirty="0"/>
          </a:p>
          <a:p>
            <a:pPr lvl="0" algn="l"/>
            <a:r>
              <a:rPr lang="en-IN" sz="2400" dirty="0"/>
              <a:t>Librarian → </a:t>
            </a:r>
            <a:r>
              <a:rPr lang="en-IN" sz="2400" dirty="0" err="1"/>
              <a:t>Librarian_ID</a:t>
            </a:r>
            <a:endParaRPr lang="en-IN" sz="2400" dirty="0"/>
          </a:p>
          <a:p>
            <a:pPr lvl="0" algn="l"/>
            <a:r>
              <a:rPr lang="en-IN" sz="2400" dirty="0"/>
              <a:t>Loan → </a:t>
            </a:r>
            <a:r>
              <a:rPr lang="en-IN" sz="2400" dirty="0" err="1"/>
              <a:t>Loan_ID</a:t>
            </a:r>
            <a:endParaRPr lang="en-IN" sz="2400" dirty="0"/>
          </a:p>
          <a:p>
            <a:pPr lvl="0" algn="l"/>
            <a:r>
              <a:rPr lang="en-IN" sz="2400" dirty="0"/>
              <a:t>Publisher → </a:t>
            </a:r>
            <a:r>
              <a:rPr lang="en-IN" sz="2400" dirty="0" err="1"/>
              <a:t>Publisher_ID</a:t>
            </a:r>
            <a:endParaRPr lang="en-IN" sz="2400" dirty="0"/>
          </a:p>
          <a:p>
            <a:pPr lvl="0" algn="l"/>
            <a:endParaRPr lang="en-IN" sz="2400" dirty="0"/>
          </a:p>
          <a:p>
            <a:pPr algn="l"/>
            <a:r>
              <a:rPr lang="en-IN" sz="2400" b="1" dirty="0"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Foreign Keys:</a:t>
            </a:r>
          </a:p>
          <a:p>
            <a:pPr algn="l"/>
            <a:endParaRPr lang="en-IN" sz="2400" dirty="0">
              <a:effectLst/>
            </a:endParaRPr>
          </a:p>
          <a:p>
            <a:pPr lvl="0" algn="l"/>
            <a:r>
              <a:rPr lang="en-IN" sz="2400" dirty="0" err="1"/>
              <a:t>Loan.Book_ID</a:t>
            </a:r>
            <a:r>
              <a:rPr lang="en-IN" sz="2400" dirty="0"/>
              <a:t> → </a:t>
            </a:r>
            <a:r>
              <a:rPr lang="en-IN" sz="2400" dirty="0" err="1"/>
              <a:t>Book.Book_ID</a:t>
            </a:r>
            <a:endParaRPr lang="en-IN" sz="2400" dirty="0"/>
          </a:p>
          <a:p>
            <a:pPr lvl="0" algn="l"/>
            <a:r>
              <a:rPr lang="en-IN" sz="2400" dirty="0" err="1"/>
              <a:t>Loan.Member_ID</a:t>
            </a:r>
            <a:r>
              <a:rPr lang="en-IN" sz="2400" dirty="0"/>
              <a:t> → </a:t>
            </a:r>
            <a:r>
              <a:rPr lang="en-IN" sz="2400" dirty="0" err="1"/>
              <a:t>Member.Member_ID</a:t>
            </a:r>
            <a:endParaRPr lang="en-IN" sz="2400" dirty="0"/>
          </a:p>
          <a:p>
            <a:pPr lvl="0" algn="l"/>
            <a:r>
              <a:rPr lang="en-IN" sz="2400" dirty="0" err="1"/>
              <a:t>Loan.Librarian_ID</a:t>
            </a:r>
            <a:r>
              <a:rPr lang="en-IN" sz="2400" dirty="0"/>
              <a:t> → </a:t>
            </a:r>
            <a:r>
              <a:rPr lang="en-IN" sz="2400" dirty="0" err="1"/>
              <a:t>Librarian.Librarian_ID</a:t>
            </a:r>
            <a:endParaRPr lang="en-IN" sz="2400" dirty="0"/>
          </a:p>
          <a:p>
            <a:pPr lvl="0" algn="l"/>
            <a:r>
              <a:rPr lang="en-IN" sz="2400" dirty="0" err="1"/>
              <a:t>Book.Publisher_ID</a:t>
            </a:r>
            <a:r>
              <a:rPr lang="en-IN" sz="2400" dirty="0"/>
              <a:t> → </a:t>
            </a:r>
            <a:r>
              <a:rPr lang="en-IN" sz="2400" dirty="0" err="1"/>
              <a:t>Publisher.Publisher_ID</a:t>
            </a:r>
            <a:endParaRPr lang="en-IN" sz="2400" dirty="0"/>
          </a:p>
          <a:p>
            <a:pPr algn="l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76600" y="320752"/>
            <a:ext cx="5029200" cy="70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 Repo &amp; Responsibilities</a:t>
            </a:r>
          </a:p>
          <a:p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992B44-7FB8-5972-E507-40BFF2E169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938" y="1039718"/>
            <a:ext cx="8542523" cy="48032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750EAD-7F84-E243-58B2-3BFE1F2953B0}"/>
              </a:ext>
            </a:extLst>
          </p:cNvPr>
          <p:cNvSpPr txBox="1"/>
          <p:nvPr/>
        </p:nvSpPr>
        <p:spPr>
          <a:xfrm>
            <a:off x="757938" y="6078684"/>
            <a:ext cx="85425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M . Sri Ramana → ER Diagram + Schema Design</a:t>
            </a:r>
          </a:p>
          <a:p>
            <a:pPr lvl="0"/>
            <a:r>
              <a:rPr lang="en-IN" dirty="0"/>
              <a:t>K . Chandru → Database Creation + Constraints</a:t>
            </a:r>
          </a:p>
          <a:p>
            <a:pPr lvl="0"/>
            <a:r>
              <a:rPr lang="en-IN" dirty="0"/>
              <a:t>G . Suhas→ Sample Data + CRUD Operations</a:t>
            </a:r>
          </a:p>
          <a:p>
            <a:pPr lvl="0"/>
            <a:r>
              <a:rPr lang="en-IN" dirty="0"/>
              <a:t>A . Datta Sri Sai → Queries + Documentation + Presentation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F0503C-7DF0-A3F7-FB3B-8BC6AE26B0A9}"/>
              </a:ext>
            </a:extLst>
          </p:cNvPr>
          <p:cNvSpPr txBox="1"/>
          <p:nvPr/>
        </p:nvSpPr>
        <p:spPr>
          <a:xfrm>
            <a:off x="-76200" y="7167825"/>
            <a:ext cx="9691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Repositary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r>
              <a:rPr lang="en-US" dirty="0"/>
              <a:t>:</a:t>
            </a:r>
            <a:r>
              <a:rPr lang="en-US" sz="1800" u="sng" dirty="0">
                <a:hlinkClick r:id="rId7"/>
              </a:rPr>
              <a:t>Sriramana-12/Library-Management-System: DBMS Capstone Project - Library Management System using PostgreSQL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76600" y="339750"/>
            <a:ext cx="5029200" cy="70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</a:p>
          <a:p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9B574-7A4A-5387-609F-410CF8AC1420}"/>
              </a:ext>
            </a:extLst>
          </p:cNvPr>
          <p:cNvSpPr txBox="1"/>
          <p:nvPr/>
        </p:nvSpPr>
        <p:spPr>
          <a:xfrm>
            <a:off x="290750" y="887904"/>
            <a:ext cx="595765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DATABASE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LibraryDB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LibraryDB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Publisher (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Publisher_ID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 PRIMARY KEY,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Name VARCHAR(100) NOT NULL,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Address VARCHAR(200)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Book (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 PRIMARY KEY,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Title VARCHAR(200) NOT NULL,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Author VARCHAR(100),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ISBN VARCHAR(20) UNIQUE,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Publisher_ID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Category VARCHAR(50),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Price DECIMAL(8,2),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Status VARCHAR(20) DEFAULT 'Available',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Available_Copies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 DEFAULT 1,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FOREIGN KEY 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Publisher_ID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REFERENCES Publisher(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Publisher_ID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304A4-3350-EEF0-FD98-F5A7D3972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1EEE87C-8BD2-ABCF-DB30-8246137D3F4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FCEBF56F-ACC0-AC86-32AF-B1A1E91347F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C8BA433-7004-462C-9AD6-118D72F8B117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A92409FA-461B-5687-67AA-DD08DB99058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5BC430B6-49D9-A9A3-ABA5-BE92E0FC585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4FB6B36E-B1FB-AF61-C716-19F6EDBBBD5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F8245D6D-6E4E-C66A-BE4A-7CECB8964D10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2695574-E265-17DC-213D-376D2F4A828A}"/>
              </a:ext>
            </a:extLst>
          </p:cNvPr>
          <p:cNvSpPr txBox="1"/>
          <p:nvPr/>
        </p:nvSpPr>
        <p:spPr>
          <a:xfrm>
            <a:off x="3276600" y="339750"/>
            <a:ext cx="5029200" cy="70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</a:p>
          <a:p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ACACAA-D93C-CEE0-3327-D1DC06DBAD95}"/>
              </a:ext>
            </a:extLst>
          </p:cNvPr>
          <p:cNvSpPr txBox="1"/>
          <p:nvPr/>
        </p:nvSpPr>
        <p:spPr>
          <a:xfrm>
            <a:off x="381000" y="1339454"/>
            <a:ext cx="56388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Member (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 PRIMARY KEY,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Name VARCHAR(100) NOT NULL,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Email VARCHAR(100) UNIQUE,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Phone VARCHAR(15),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Address VARCHAR(200),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Reg_Date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Librarian (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Librarian_ID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 PRIMARY KEY,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Name VARCHAR(100) NOT NULL,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Email VARCHAR(100),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Phone VARCHAR(15)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Loan (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 PRIMARY KEY,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Librarian_ID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Issue_Date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NOT NULL,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Due_Date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NOT NULL,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Return_Date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FOREIGN KEY 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REFERENCES Book(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FOREIGN KEY 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REFERENCES Member(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FOREIGN KEY 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Librarian_ID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REFERENCES Librarian(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Librarian_ID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305165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962572" y="320752"/>
            <a:ext cx="5029200" cy="70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Insert Sample Data</a:t>
            </a:r>
          </a:p>
          <a:p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685800" y="872013"/>
            <a:ext cx="67818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Publishers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Publisher VALUES (1, 'Penguin Random House', 'New York');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Publisher VALUES (2, 'HarperCollins', 'London');</a:t>
            </a:r>
          </a:p>
          <a:p>
            <a:pPr algn="just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Books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Book VALUES 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(101, 'The Great Gatsby', 'F. Scott Fitzgerald', '978-0743273565', 1, 'Fiction', 12.99, 'Available', 3),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(102, '1984', 'George Orwell', '978-0451524935', 2, 'Dystopian', 10.50, 'Available', 2),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(103, 'To Kill a Mockingbird', 'Harper Lee', '978-0061120084', 1, 'Classic', 11.00, 'Issued', 1);</a:t>
            </a:r>
          </a:p>
          <a:p>
            <a:pPr algn="just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Members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Member VALUES 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'Rahul Sharma', 'rahul@email.com', '9876543210', 'Delhi', '2025-01-15'),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 'Priya Patel', 'priya@email.com', '9123456780', 'Mumbai', '2025-02-10');</a:t>
            </a:r>
          </a:p>
          <a:p>
            <a:pPr algn="just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Librarians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Librarian VALUES (1, 'Anita Desai', 'anita@library.com', '9988776655');</a:t>
            </a:r>
          </a:p>
          <a:p>
            <a:pPr algn="just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Loans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Loan VALUES 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(1001, 103, 1, 1, '2026-09-01', '2026-09-15', NULL);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5725" y="114583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73983"/>
            <a:ext cx="5029200" cy="70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  <a:p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905BC22-58E1-52D6-25FC-0DEDE0083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749628"/>
              </p:ext>
            </p:extLst>
          </p:nvPr>
        </p:nvGraphicFramePr>
        <p:xfrm>
          <a:off x="152400" y="1031234"/>
          <a:ext cx="6172200" cy="2653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12473208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69594755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971232303"/>
                    </a:ext>
                  </a:extLst>
                </a:gridCol>
              </a:tblGrid>
              <a:tr h="536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Examples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514194"/>
                  </a:ext>
                </a:extLst>
              </a:tr>
              <a:tr h="939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DDL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Define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CREATE, ALTER, DROP, TRUNCATE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727676"/>
                  </a:ext>
                </a:extLst>
              </a:tr>
              <a:tr h="536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DML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Manipulate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INSERT, UPDATE, DELETE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633932"/>
                  </a:ext>
                </a:extLst>
              </a:tr>
              <a:tr h="536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DQL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Query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SELECT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15384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65C348C-8829-FD95-48E1-77AAA9694D64}"/>
              </a:ext>
            </a:extLst>
          </p:cNvPr>
          <p:cNvSpPr txBox="1"/>
          <p:nvPr/>
        </p:nvSpPr>
        <p:spPr>
          <a:xfrm>
            <a:off x="213360" y="3909060"/>
            <a:ext cx="57302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Example:</a:t>
            </a:r>
          </a:p>
          <a:p>
            <a:r>
              <a:rPr lang="en-US" sz="1200" dirty="0"/>
              <a:t>-- DDL</a:t>
            </a:r>
          </a:p>
          <a:p>
            <a:r>
              <a:rPr lang="en-US" sz="1200" dirty="0"/>
              <a:t>ALTER TABLE Book ADD COLUMN Language VARCHAR(30);</a:t>
            </a:r>
          </a:p>
          <a:p>
            <a:endParaRPr lang="en-US" sz="1200" dirty="0"/>
          </a:p>
          <a:p>
            <a:r>
              <a:rPr lang="en-US" sz="1200" dirty="0"/>
              <a:t>-- DML</a:t>
            </a:r>
          </a:p>
          <a:p>
            <a:r>
              <a:rPr lang="en-US" sz="1200" dirty="0"/>
              <a:t>UPDATE Book SET Status = 'Available' WHERE </a:t>
            </a:r>
            <a:r>
              <a:rPr lang="en-US" sz="1200" dirty="0" err="1"/>
              <a:t>Book_ID</a:t>
            </a:r>
            <a:r>
              <a:rPr lang="en-US" sz="1200" dirty="0"/>
              <a:t> = 103;</a:t>
            </a:r>
          </a:p>
          <a:p>
            <a:r>
              <a:rPr lang="en-US" sz="1200" dirty="0"/>
              <a:t>DELETE FROM Loan WHERE </a:t>
            </a:r>
            <a:r>
              <a:rPr lang="en-US" sz="1200" dirty="0" err="1"/>
              <a:t>Loan_ID</a:t>
            </a:r>
            <a:r>
              <a:rPr lang="en-US" sz="1200" dirty="0"/>
              <a:t> = 1001;</a:t>
            </a:r>
          </a:p>
          <a:p>
            <a:endParaRPr lang="en-US" sz="1200" dirty="0"/>
          </a:p>
          <a:p>
            <a:r>
              <a:rPr lang="en-US" sz="1200" dirty="0"/>
              <a:t>-- DQL</a:t>
            </a:r>
          </a:p>
          <a:p>
            <a:r>
              <a:rPr lang="en-US" sz="1200" dirty="0"/>
              <a:t>SELECT Title, Author FROM Book WHERE Status = 'Available';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124200" y="310084"/>
            <a:ext cx="5029200" cy="70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&amp; SQL Queries</a:t>
            </a:r>
          </a:p>
          <a:p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290750" y="1034069"/>
            <a:ext cx="8167450" cy="7394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Create</a:t>
            </a:r>
            <a:r>
              <a:rPr lang="en-IN" sz="1050" dirty="0">
                <a:effectLst/>
                <a:highlight>
                  <a:srgbClr val="FFFF00"/>
                </a:highlight>
              </a:rPr>
              <a:t>:</a:t>
            </a:r>
          </a:p>
          <a:p>
            <a:r>
              <a:rPr lang="en-US" sz="1050" dirty="0">
                <a:effectLst/>
              </a:rPr>
              <a:t>INSERT INTO Member VALUES (3, 'Amit Kumar', 'amit@email.com', '9000011111', 'Bangalore', CURDATE());</a:t>
            </a:r>
            <a:endParaRPr lang="en-IN" sz="1050" dirty="0">
              <a:effectLst/>
              <a:highlight>
                <a:srgbClr val="FFFF00"/>
              </a:highlight>
            </a:endParaRPr>
          </a:p>
          <a:p>
            <a:endParaRPr lang="en-IN" sz="1050" dirty="0">
              <a:effectLst/>
              <a:highlight>
                <a:srgbClr val="FFFF00"/>
              </a:highlight>
            </a:endParaRPr>
          </a:p>
          <a:p>
            <a:r>
              <a:rPr lang="en-IN" sz="1050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Read:</a:t>
            </a:r>
          </a:p>
          <a:p>
            <a:r>
              <a:rPr lang="en-US" sz="1050" dirty="0">
                <a:effectLst/>
              </a:rPr>
              <a:t>SELECT * FROM Book WHERE Category = 'Fiction’;</a:t>
            </a:r>
          </a:p>
          <a:p>
            <a:endParaRPr lang="en-US" sz="1050" dirty="0">
              <a:effectLst/>
            </a:endParaRPr>
          </a:p>
          <a:p>
            <a:r>
              <a:rPr lang="en-IN" sz="1050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Update:</a:t>
            </a:r>
          </a:p>
          <a:p>
            <a:r>
              <a:rPr lang="en-US" sz="1050" dirty="0">
                <a:effectLst/>
              </a:rPr>
              <a:t>UPDATE Book SET </a:t>
            </a:r>
            <a:r>
              <a:rPr lang="en-US" sz="1050" dirty="0" err="1">
                <a:effectLst/>
              </a:rPr>
              <a:t>Available_Copies</a:t>
            </a:r>
            <a:r>
              <a:rPr lang="en-US" sz="1050" dirty="0">
                <a:effectLst/>
              </a:rPr>
              <a:t> = </a:t>
            </a:r>
            <a:r>
              <a:rPr lang="en-US" sz="1050" dirty="0" err="1">
                <a:effectLst/>
              </a:rPr>
              <a:t>Available_Copies</a:t>
            </a:r>
            <a:r>
              <a:rPr lang="en-US" sz="1050" dirty="0">
                <a:effectLst/>
              </a:rPr>
              <a:t> - 1 WHERE </a:t>
            </a:r>
            <a:r>
              <a:rPr lang="en-US" sz="1050" dirty="0" err="1">
                <a:effectLst/>
              </a:rPr>
              <a:t>Book_ID</a:t>
            </a:r>
            <a:r>
              <a:rPr lang="en-US" sz="1050" dirty="0">
                <a:effectLst/>
              </a:rPr>
              <a:t> = 101;</a:t>
            </a:r>
          </a:p>
          <a:p>
            <a:endParaRPr lang="en-US" sz="1050" dirty="0"/>
          </a:p>
          <a:p>
            <a:r>
              <a:rPr lang="en-IN" sz="1050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Delete:</a:t>
            </a:r>
          </a:p>
          <a:p>
            <a:endParaRPr lang="en-IN" sz="1050" dirty="0">
              <a:highlight>
                <a:srgbClr val="FFFF00"/>
              </a:highlight>
            </a:endParaRPr>
          </a:p>
          <a:p>
            <a:r>
              <a:rPr lang="en-US" sz="1050" dirty="0">
                <a:effectLst/>
              </a:rPr>
              <a:t>DELETE FROM Member WHERE </a:t>
            </a:r>
            <a:r>
              <a:rPr lang="en-US" sz="1050" dirty="0" err="1">
                <a:effectLst/>
              </a:rPr>
              <a:t>Member_ID</a:t>
            </a:r>
            <a:r>
              <a:rPr lang="en-US" sz="1050" dirty="0">
                <a:effectLst/>
              </a:rPr>
              <a:t> = 3;</a:t>
            </a:r>
          </a:p>
          <a:p>
            <a:endParaRPr lang="en-US" sz="1050" dirty="0">
              <a:solidFill>
                <a:srgbClr val="C00000"/>
              </a:solidFill>
            </a:endParaRPr>
          </a:p>
          <a:p>
            <a:r>
              <a:rPr lang="en-IN" sz="105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Useful Queries:</a:t>
            </a:r>
          </a:p>
          <a:p>
            <a:r>
              <a:rPr lang="en-IN" sz="1100" dirty="0"/>
              <a:t>-- Currently issued books</a:t>
            </a:r>
          </a:p>
          <a:p>
            <a:r>
              <a:rPr lang="en-IN" sz="1100" dirty="0"/>
              <a:t>SELECT </a:t>
            </a:r>
            <a:r>
              <a:rPr lang="en-IN" sz="1100" dirty="0" err="1"/>
              <a:t>b.Title</a:t>
            </a:r>
            <a:r>
              <a:rPr lang="en-IN" sz="1100" dirty="0"/>
              <a:t>, </a:t>
            </a:r>
            <a:r>
              <a:rPr lang="en-IN" sz="1100" dirty="0" err="1"/>
              <a:t>m.Name</a:t>
            </a:r>
            <a:r>
              <a:rPr lang="en-IN" sz="1100" dirty="0"/>
              <a:t>, </a:t>
            </a:r>
            <a:r>
              <a:rPr lang="en-IN" sz="1100" dirty="0" err="1"/>
              <a:t>l.Issue_Date</a:t>
            </a:r>
            <a:r>
              <a:rPr lang="en-IN" sz="1100" dirty="0"/>
              <a:t>, </a:t>
            </a:r>
            <a:r>
              <a:rPr lang="en-IN" sz="1100" dirty="0" err="1"/>
              <a:t>l.Due_Date</a:t>
            </a:r>
            <a:endParaRPr lang="en-IN" sz="1100" dirty="0"/>
          </a:p>
          <a:p>
            <a:r>
              <a:rPr lang="en-IN" sz="1100" dirty="0"/>
              <a:t>FROM Loan l</a:t>
            </a:r>
          </a:p>
          <a:p>
            <a:r>
              <a:rPr lang="en-IN" sz="1100" dirty="0"/>
              <a:t>JOIN Book b ON </a:t>
            </a:r>
            <a:r>
              <a:rPr lang="en-IN" sz="1100" dirty="0" err="1"/>
              <a:t>l.Book_ID</a:t>
            </a:r>
            <a:r>
              <a:rPr lang="en-IN" sz="1100" dirty="0"/>
              <a:t> = </a:t>
            </a:r>
            <a:r>
              <a:rPr lang="en-IN" sz="1100" dirty="0" err="1"/>
              <a:t>b.Book_ID</a:t>
            </a:r>
            <a:endParaRPr lang="en-IN" sz="1100" dirty="0"/>
          </a:p>
          <a:p>
            <a:r>
              <a:rPr lang="en-IN" sz="1100" dirty="0"/>
              <a:t>JOIN Member m ON </a:t>
            </a:r>
            <a:r>
              <a:rPr lang="en-IN" sz="1100" dirty="0" err="1"/>
              <a:t>l.Member_ID</a:t>
            </a:r>
            <a:r>
              <a:rPr lang="en-IN" sz="1100" dirty="0"/>
              <a:t> = </a:t>
            </a:r>
            <a:r>
              <a:rPr lang="en-IN" sz="1100" dirty="0" err="1"/>
              <a:t>m.Member_ID</a:t>
            </a:r>
            <a:endParaRPr lang="en-IN" sz="1100" dirty="0"/>
          </a:p>
          <a:p>
            <a:r>
              <a:rPr lang="en-IN" sz="1100" dirty="0"/>
              <a:t>WHERE </a:t>
            </a:r>
            <a:r>
              <a:rPr lang="en-IN" sz="1100" dirty="0" err="1"/>
              <a:t>l.Return_Date</a:t>
            </a:r>
            <a:r>
              <a:rPr lang="en-IN" sz="1100" dirty="0"/>
              <a:t> IS NULL;</a:t>
            </a:r>
          </a:p>
          <a:p>
            <a:endParaRPr lang="en-IN" sz="1100" dirty="0"/>
          </a:p>
          <a:p>
            <a:r>
              <a:rPr lang="en-IN" sz="1100" dirty="0"/>
              <a:t>-- Overdue books</a:t>
            </a:r>
          </a:p>
          <a:p>
            <a:r>
              <a:rPr lang="en-IN" sz="1100" dirty="0"/>
              <a:t>SELECT </a:t>
            </a:r>
            <a:r>
              <a:rPr lang="en-IN" sz="1100" dirty="0" err="1"/>
              <a:t>b.Title</a:t>
            </a:r>
            <a:r>
              <a:rPr lang="en-IN" sz="1100" dirty="0"/>
              <a:t>, </a:t>
            </a:r>
            <a:r>
              <a:rPr lang="en-IN" sz="1100" dirty="0" err="1"/>
              <a:t>m.Name</a:t>
            </a:r>
            <a:r>
              <a:rPr lang="en-IN" sz="1100" dirty="0"/>
              <a:t>, </a:t>
            </a:r>
            <a:r>
              <a:rPr lang="en-IN" sz="1100" dirty="0" err="1"/>
              <a:t>l.Due_Date</a:t>
            </a:r>
            <a:endParaRPr lang="en-IN" sz="1100" dirty="0"/>
          </a:p>
          <a:p>
            <a:r>
              <a:rPr lang="en-IN" sz="1100" dirty="0"/>
              <a:t>FROM Loan l</a:t>
            </a:r>
          </a:p>
          <a:p>
            <a:r>
              <a:rPr lang="en-IN" sz="1100" dirty="0"/>
              <a:t>JOIN Book b ON </a:t>
            </a:r>
            <a:r>
              <a:rPr lang="en-IN" sz="1100" dirty="0" err="1"/>
              <a:t>l.Book_ID</a:t>
            </a:r>
            <a:r>
              <a:rPr lang="en-IN" sz="1100" dirty="0"/>
              <a:t> = </a:t>
            </a:r>
            <a:r>
              <a:rPr lang="en-IN" sz="1100" dirty="0" err="1"/>
              <a:t>b.Book_ID</a:t>
            </a:r>
            <a:endParaRPr lang="en-IN" sz="1100" dirty="0"/>
          </a:p>
          <a:p>
            <a:r>
              <a:rPr lang="en-IN" sz="1100" dirty="0"/>
              <a:t>JOIN Member m ON </a:t>
            </a:r>
            <a:r>
              <a:rPr lang="en-IN" sz="1100" dirty="0" err="1"/>
              <a:t>l.Member_ID</a:t>
            </a:r>
            <a:r>
              <a:rPr lang="en-IN" sz="1100" dirty="0"/>
              <a:t> = </a:t>
            </a:r>
            <a:r>
              <a:rPr lang="en-IN" sz="1100" dirty="0" err="1"/>
              <a:t>m.Member_ID</a:t>
            </a:r>
            <a:endParaRPr lang="en-IN" sz="1100" dirty="0"/>
          </a:p>
          <a:p>
            <a:r>
              <a:rPr lang="en-IN" sz="1100" dirty="0"/>
              <a:t>WHERE </a:t>
            </a:r>
            <a:r>
              <a:rPr lang="en-IN" sz="1100" dirty="0" err="1"/>
              <a:t>l.Return_Date</a:t>
            </a:r>
            <a:r>
              <a:rPr lang="en-IN" sz="1100" dirty="0"/>
              <a:t> IS NULL AND </a:t>
            </a:r>
            <a:r>
              <a:rPr lang="en-IN" sz="1100" dirty="0" err="1"/>
              <a:t>l.Due_Date</a:t>
            </a:r>
            <a:r>
              <a:rPr lang="en-IN" sz="1100" dirty="0"/>
              <a:t> &lt; CURDATE(); -- Currently issued books</a:t>
            </a:r>
          </a:p>
          <a:p>
            <a:r>
              <a:rPr lang="en-IN" sz="1100" dirty="0"/>
              <a:t>SELECT </a:t>
            </a:r>
            <a:r>
              <a:rPr lang="en-IN" sz="1100" dirty="0" err="1"/>
              <a:t>b.Title</a:t>
            </a:r>
            <a:r>
              <a:rPr lang="en-IN" sz="1100" dirty="0"/>
              <a:t>, </a:t>
            </a:r>
            <a:r>
              <a:rPr lang="en-IN" sz="1100" dirty="0" err="1"/>
              <a:t>m.Name</a:t>
            </a:r>
            <a:r>
              <a:rPr lang="en-IN" sz="1100" dirty="0"/>
              <a:t>, </a:t>
            </a:r>
            <a:r>
              <a:rPr lang="en-IN" sz="1100" dirty="0" err="1"/>
              <a:t>l.Issue_Date</a:t>
            </a:r>
            <a:r>
              <a:rPr lang="en-IN" sz="1100" dirty="0"/>
              <a:t>, </a:t>
            </a:r>
            <a:r>
              <a:rPr lang="en-IN" sz="1100" dirty="0" err="1"/>
              <a:t>l.Due_Date</a:t>
            </a:r>
            <a:endParaRPr lang="en-IN" sz="1100" dirty="0"/>
          </a:p>
          <a:p>
            <a:r>
              <a:rPr lang="en-IN" sz="1100" dirty="0"/>
              <a:t>FROM Loan l</a:t>
            </a:r>
          </a:p>
          <a:p>
            <a:r>
              <a:rPr lang="en-IN" sz="1100" dirty="0"/>
              <a:t>JOIN Book b ON </a:t>
            </a:r>
            <a:r>
              <a:rPr lang="en-IN" sz="1100" dirty="0" err="1"/>
              <a:t>l.Book_ID</a:t>
            </a:r>
            <a:r>
              <a:rPr lang="en-IN" sz="1100" dirty="0"/>
              <a:t> = </a:t>
            </a:r>
            <a:r>
              <a:rPr lang="en-IN" sz="1100" dirty="0" err="1"/>
              <a:t>b.Book_ID</a:t>
            </a:r>
            <a:endParaRPr lang="en-IN" sz="1100" dirty="0"/>
          </a:p>
          <a:p>
            <a:r>
              <a:rPr lang="en-IN" sz="1100" dirty="0"/>
              <a:t>JOIN Member m ON </a:t>
            </a:r>
            <a:r>
              <a:rPr lang="en-IN" sz="1100" dirty="0" err="1"/>
              <a:t>l.Member_ID</a:t>
            </a:r>
            <a:r>
              <a:rPr lang="en-IN" sz="1100" dirty="0"/>
              <a:t> = </a:t>
            </a:r>
            <a:r>
              <a:rPr lang="en-IN" sz="1100" dirty="0" err="1"/>
              <a:t>m.Member_ID</a:t>
            </a:r>
            <a:endParaRPr lang="en-IN" sz="1100" dirty="0"/>
          </a:p>
          <a:p>
            <a:r>
              <a:rPr lang="en-IN" sz="1100" dirty="0"/>
              <a:t>WHERE </a:t>
            </a:r>
            <a:r>
              <a:rPr lang="en-IN" sz="1100" dirty="0" err="1"/>
              <a:t>l.Return_Date</a:t>
            </a:r>
            <a:r>
              <a:rPr lang="en-IN" sz="1100" dirty="0"/>
              <a:t> IS NULL;</a:t>
            </a:r>
          </a:p>
          <a:p>
            <a:endParaRPr lang="en-IN" sz="1100" dirty="0"/>
          </a:p>
          <a:p>
            <a:r>
              <a:rPr lang="en-IN" sz="1100" dirty="0"/>
              <a:t>-- Overdue books</a:t>
            </a:r>
          </a:p>
          <a:p>
            <a:r>
              <a:rPr lang="en-IN" sz="1100" dirty="0"/>
              <a:t>SELECT </a:t>
            </a:r>
            <a:r>
              <a:rPr lang="en-IN" sz="1100" dirty="0" err="1"/>
              <a:t>b.Title</a:t>
            </a:r>
            <a:r>
              <a:rPr lang="en-IN" sz="1100" dirty="0"/>
              <a:t>, </a:t>
            </a:r>
            <a:r>
              <a:rPr lang="en-IN" sz="1100" dirty="0" err="1"/>
              <a:t>m.Name</a:t>
            </a:r>
            <a:r>
              <a:rPr lang="en-IN" sz="1100" dirty="0"/>
              <a:t>, </a:t>
            </a:r>
            <a:r>
              <a:rPr lang="en-IN" sz="1100" dirty="0" err="1"/>
              <a:t>l.Due_Date</a:t>
            </a:r>
            <a:endParaRPr lang="en-IN" sz="1100" dirty="0"/>
          </a:p>
          <a:p>
            <a:r>
              <a:rPr lang="en-IN" sz="1100" dirty="0"/>
              <a:t>FROM Loan l</a:t>
            </a:r>
          </a:p>
          <a:p>
            <a:r>
              <a:rPr lang="en-IN" sz="1100" dirty="0"/>
              <a:t>JOIN Book b ON </a:t>
            </a:r>
            <a:r>
              <a:rPr lang="en-IN" sz="1100" dirty="0" err="1"/>
              <a:t>l.Book_ID</a:t>
            </a:r>
            <a:r>
              <a:rPr lang="en-IN" sz="1100" dirty="0"/>
              <a:t> = </a:t>
            </a:r>
            <a:r>
              <a:rPr lang="en-IN" sz="1100" dirty="0" err="1"/>
              <a:t>b.Book_ID</a:t>
            </a:r>
            <a:endParaRPr lang="en-IN" sz="1100" dirty="0"/>
          </a:p>
          <a:p>
            <a:r>
              <a:rPr lang="en-IN" sz="1100" dirty="0"/>
              <a:t>JOIN Member m ON </a:t>
            </a:r>
            <a:r>
              <a:rPr lang="en-IN" sz="1100" dirty="0" err="1"/>
              <a:t>l.Member_ID</a:t>
            </a:r>
            <a:r>
              <a:rPr lang="en-IN" sz="1100" dirty="0"/>
              <a:t> = </a:t>
            </a:r>
            <a:r>
              <a:rPr lang="en-IN" sz="1100" dirty="0" err="1"/>
              <a:t>m.Member_ID</a:t>
            </a:r>
            <a:endParaRPr lang="en-IN" sz="1100" dirty="0"/>
          </a:p>
          <a:p>
            <a:r>
              <a:rPr lang="en-IN" sz="1100" dirty="0"/>
              <a:t>WHERE </a:t>
            </a:r>
            <a:r>
              <a:rPr lang="en-IN" sz="1100" dirty="0" err="1"/>
              <a:t>l.Return_Date</a:t>
            </a:r>
            <a:r>
              <a:rPr lang="en-IN" sz="1100" dirty="0"/>
              <a:t> IS NULL AND </a:t>
            </a:r>
            <a:r>
              <a:rPr lang="en-IN" sz="1100" dirty="0" err="1"/>
              <a:t>l.Due_Date</a:t>
            </a:r>
            <a:r>
              <a:rPr lang="en-IN" sz="1100" dirty="0"/>
              <a:t> &lt; CURDATE();</a:t>
            </a:r>
          </a:p>
          <a:p>
            <a:endParaRPr lang="en-IN" sz="1050" dirty="0">
              <a:effectLst/>
              <a:highlight>
                <a:srgbClr val="FFFF00"/>
              </a:highlight>
            </a:endParaRPr>
          </a:p>
          <a:p>
            <a:endParaRPr lang="en-US" sz="1050" dirty="0">
              <a:effectLst/>
            </a:endParaRPr>
          </a:p>
          <a:p>
            <a:r>
              <a:rPr lang="en-US" sz="1050" dirty="0"/>
              <a:t> </a:t>
            </a:r>
            <a:endParaRPr lang="en-IN" sz="1050" dirty="0">
              <a:effectLst/>
              <a:highlight>
                <a:srgbClr val="FFFF00"/>
              </a:highlight>
            </a:endParaRPr>
          </a:p>
          <a:p>
            <a:endParaRPr lang="en-IN" sz="1050" dirty="0">
              <a:solidFill>
                <a:srgbClr val="C00000"/>
              </a:solidFill>
              <a:effectLst/>
              <a:highlight>
                <a:srgbClr val="FFFF00"/>
              </a:highlight>
            </a:endParaRPr>
          </a:p>
          <a:p>
            <a:endParaRPr lang="en-IN" sz="105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429000" y="310084"/>
            <a:ext cx="5029200" cy="70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  <a:p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381000" y="1165581"/>
            <a:ext cx="67818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→ Uniqueness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 → Referential Integrity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NULL → Mandatory fields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→ Email, ISBN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→ Status = 'Available'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(optional) →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Available_Copies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&gt;= 0</a:t>
            </a:r>
          </a:p>
          <a:p>
            <a:r>
              <a:rPr lang="en-IN" sz="16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endParaRPr lang="en-IN" sz="1600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ALTER TABLE Book </a:t>
            </a:r>
          </a:p>
          <a:p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CONSTRAINT </a:t>
            </a:r>
            <a:r>
              <a:rPr lang="en-US" sz="16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chk_copies</a:t>
            </a: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CHECK (</a:t>
            </a:r>
            <a:r>
              <a:rPr lang="en-US" sz="16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Available_Copies</a:t>
            </a: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&gt;= 0);</a:t>
            </a:r>
            <a:endParaRPr lang="en-IN" sz="1600" dirty="0">
              <a:solidFill>
                <a:schemeClr val="tx1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4213234" y="320752"/>
            <a:ext cx="5029200" cy="70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E099D8-F944-0A67-F540-DDD6B8A0A536}"/>
              </a:ext>
            </a:extLst>
          </p:cNvPr>
          <p:cNvSpPr txBox="1"/>
          <p:nvPr/>
        </p:nvSpPr>
        <p:spPr>
          <a:xfrm>
            <a:off x="290750" y="1060287"/>
            <a:ext cx="95390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Successfully designed and implemented a complete Library Management System database.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Applied all core DBMS concepts: ER </a:t>
            </a:r>
            <a:r>
              <a:rPr lang="en-IN" dirty="0" err="1"/>
              <a:t>modeling</a:t>
            </a:r>
            <a:r>
              <a:rPr lang="en-IN" dirty="0"/>
              <a:t>, relational schema, keys, constraints, DDL/DML/DQL, and CRUD operations.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system ensures data integrity and can be easily extended (fines, reservations, multiple branches, etc.).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Future Scope:</a:t>
            </a:r>
            <a:endParaRPr lang="en-IN" dirty="0">
              <a:solidFill>
                <a:srgbClr val="FF0000"/>
              </a:solidFill>
              <a:effectLst/>
              <a:highlight>
                <a:srgbClr val="FFFF00"/>
              </a:highlight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Web/Mobile frontend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Fine calculation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Book reservation system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Reports &amp; analytics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0800" y="2286000"/>
            <a:ext cx="5029200" cy="1477328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YOU…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2667</TotalTime>
  <Words>1737</Words>
  <Application>Microsoft Office PowerPoint</Application>
  <PresentationFormat>Custom</PresentationFormat>
  <Paragraphs>280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</vt:lpstr>
      <vt:lpstr>Palatino Linotype</vt:lpstr>
      <vt:lpstr>Times New Roman</vt:lpstr>
      <vt:lpstr>Office Theme</vt:lpstr>
      <vt:lpstr>Database Management Systems Cornerstone Project Final Review (Review I &amp; II)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Sri Ramana Marella</cp:lastModifiedBy>
  <cp:revision>50</cp:revision>
  <cp:lastPrinted>2025-10-14T18:21:49Z</cp:lastPrinted>
  <dcterms:created xsi:type="dcterms:W3CDTF">2025-10-10T08:28:06Z</dcterms:created>
  <dcterms:modified xsi:type="dcterms:W3CDTF">2026-09-18T17:26:24Z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